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8" r:id="rId1"/>
  </p:sldMasterIdLst>
  <p:sldIdLst>
    <p:sldId id="256" r:id="rId2"/>
    <p:sldId id="269" r:id="rId3"/>
    <p:sldId id="270" r:id="rId4"/>
    <p:sldId id="278" r:id="rId5"/>
    <p:sldId id="271" r:id="rId6"/>
    <p:sldId id="258" r:id="rId7"/>
    <p:sldId id="259" r:id="rId8"/>
    <p:sldId id="268" r:id="rId9"/>
    <p:sldId id="261" r:id="rId10"/>
    <p:sldId id="275" r:id="rId11"/>
    <p:sldId id="260" r:id="rId12"/>
    <p:sldId id="276" r:id="rId13"/>
    <p:sldId id="262" r:id="rId14"/>
    <p:sldId id="277" r:id="rId15"/>
    <p:sldId id="264" r:id="rId16"/>
    <p:sldId id="265" r:id="rId17"/>
    <p:sldId id="266" r:id="rId18"/>
    <p:sldId id="267" r:id="rId19"/>
    <p:sldId id="283" r:id="rId20"/>
    <p:sldId id="284" r:id="rId21"/>
    <p:sldId id="285" r:id="rId22"/>
    <p:sldId id="286" r:id="rId23"/>
    <p:sldId id="287" r:id="rId24"/>
    <p:sldId id="279" r:id="rId25"/>
    <p:sldId id="28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FFFFFF"/>
    <a:srgbClr val="F7EC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15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248399"/>
            <a:ext cx="9361672" cy="399340"/>
            <a:chOff x="0" y="6248399"/>
            <a:chExt cx="9361672" cy="399340"/>
          </a:xfrm>
        </p:grpSpPr>
        <p:sp>
          <p:nvSpPr>
            <p:cNvPr id="8" name="Rectangle: Rounded Corners 7"/>
            <p:cNvSpPr/>
            <p:nvPr userDrawn="1"/>
          </p:nvSpPr>
          <p:spPr>
            <a:xfrm>
              <a:off x="0" y="6248399"/>
              <a:ext cx="8026400" cy="199670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/>
            <p:cNvSpPr/>
            <p:nvPr userDrawn="1"/>
          </p:nvSpPr>
          <p:spPr>
            <a:xfrm>
              <a:off x="1335272" y="6448069"/>
              <a:ext cx="8026400" cy="199670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056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64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0" y="6248399"/>
            <a:ext cx="9361672" cy="399340"/>
            <a:chOff x="0" y="6248399"/>
            <a:chExt cx="9361672" cy="399340"/>
          </a:xfrm>
        </p:grpSpPr>
        <p:sp>
          <p:nvSpPr>
            <p:cNvPr id="9" name="Rectangle: Rounded Corners 8"/>
            <p:cNvSpPr/>
            <p:nvPr userDrawn="1"/>
          </p:nvSpPr>
          <p:spPr>
            <a:xfrm>
              <a:off x="0" y="6248399"/>
              <a:ext cx="8026400" cy="199670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/>
            <p:cNvSpPr/>
            <p:nvPr userDrawn="1"/>
          </p:nvSpPr>
          <p:spPr>
            <a:xfrm>
              <a:off x="1335272" y="6448069"/>
              <a:ext cx="8026400" cy="199670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010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6/28/2017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6248399"/>
            <a:ext cx="9361672" cy="399340"/>
            <a:chOff x="0" y="6248399"/>
            <a:chExt cx="9361672" cy="399340"/>
          </a:xfrm>
        </p:grpSpPr>
        <p:sp>
          <p:nvSpPr>
            <p:cNvPr id="11" name="Rectangle: Rounded Corners 10"/>
            <p:cNvSpPr/>
            <p:nvPr userDrawn="1"/>
          </p:nvSpPr>
          <p:spPr>
            <a:xfrm>
              <a:off x="0" y="6248399"/>
              <a:ext cx="8026400" cy="199670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/>
            <p:cNvSpPr/>
            <p:nvPr userDrawn="1"/>
          </p:nvSpPr>
          <p:spPr>
            <a:xfrm>
              <a:off x="1335272" y="6448069"/>
              <a:ext cx="8026400" cy="199670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979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248399"/>
            <a:ext cx="9361672" cy="399340"/>
            <a:chOff x="0" y="6248399"/>
            <a:chExt cx="9361672" cy="399340"/>
          </a:xfrm>
        </p:grpSpPr>
        <p:sp>
          <p:nvSpPr>
            <p:cNvPr id="7" name="Rectangle: Rounded Corners 6"/>
            <p:cNvSpPr/>
            <p:nvPr userDrawn="1"/>
          </p:nvSpPr>
          <p:spPr>
            <a:xfrm>
              <a:off x="0" y="6248399"/>
              <a:ext cx="8026400" cy="199670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 userDrawn="1"/>
          </p:nvSpPr>
          <p:spPr>
            <a:xfrm>
              <a:off x="1335272" y="6448069"/>
              <a:ext cx="8026400" cy="199670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621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248399"/>
            <a:ext cx="9361672" cy="399340"/>
            <a:chOff x="0" y="6248399"/>
            <a:chExt cx="9361672" cy="399340"/>
          </a:xfrm>
        </p:grpSpPr>
        <p:sp>
          <p:nvSpPr>
            <p:cNvPr id="6" name="Rectangle: Rounded Corners 5"/>
            <p:cNvSpPr/>
            <p:nvPr userDrawn="1"/>
          </p:nvSpPr>
          <p:spPr>
            <a:xfrm>
              <a:off x="0" y="6248399"/>
              <a:ext cx="8026400" cy="199670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/>
            <p:cNvSpPr/>
            <p:nvPr userDrawn="1"/>
          </p:nvSpPr>
          <p:spPr>
            <a:xfrm>
              <a:off x="1335272" y="6448069"/>
              <a:ext cx="8026400" cy="199670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/>
          <p:cNvSpPr/>
          <p:nvPr userDrawn="1"/>
        </p:nvSpPr>
        <p:spPr>
          <a:xfrm>
            <a:off x="4754880" y="3429000"/>
            <a:ext cx="4998720" cy="20726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5703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49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63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97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90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6/28/2017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7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9250017" cy="6956013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4754880" y="3429000"/>
            <a:ext cx="4998720" cy="20726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7516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hyfiles/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0078" y="2627265"/>
            <a:ext cx="7655983" cy="1646302"/>
          </a:xfrm>
        </p:spPr>
        <p:txBody>
          <a:bodyPr>
            <a:normAutofit fontScale="90000"/>
          </a:bodyPr>
          <a:lstStyle/>
          <a:p>
            <a:r>
              <a:rPr lang="en-US" sz="9000" b="1" dirty="0">
                <a:solidFill>
                  <a:schemeClr val="tx1"/>
                </a:solidFill>
                <a:latin typeface="Algerian" panose="04020705040A02060702" pitchFamily="82" charset="0"/>
              </a:rPr>
              <a:t>BIBLIOGRAPHY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3046" y="4912891"/>
            <a:ext cx="8370045" cy="1488509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tx1"/>
                </a:solidFill>
              </a:rPr>
              <a:t>BABY XYZA F. DELA CRUZ</a:t>
            </a:r>
          </a:p>
          <a:p>
            <a:r>
              <a:rPr lang="en-US" sz="3000" b="1" dirty="0">
                <a:solidFill>
                  <a:schemeClr val="tx1"/>
                </a:solidFill>
              </a:rPr>
              <a:t>ENGLISH 10</a:t>
            </a:r>
          </a:p>
          <a:p>
            <a:r>
              <a:rPr lang="en-US" sz="3000" b="1" dirty="0">
                <a:solidFill>
                  <a:schemeClr val="tx1"/>
                </a:solidFill>
              </a:rPr>
              <a:t>ADDITION HILLS INTEGRATED SCHOOL</a:t>
            </a:r>
          </a:p>
          <a:p>
            <a:endParaRPr lang="en-US" sz="3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48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365240"/>
              </p:ext>
            </p:extLst>
          </p:nvPr>
        </p:nvGraphicFramePr>
        <p:xfrm>
          <a:off x="796290" y="270509"/>
          <a:ext cx="10843259" cy="6266427"/>
        </p:xfrm>
        <a:graphic>
          <a:graphicData uri="http://schemas.openxmlformats.org/drawingml/2006/table">
            <a:tbl>
              <a:tblPr firstRow="1" firstCol="1" bandRow="1">
                <a:tableStyleId>{0505E3EF-67EA-436B-97B2-0124C06EBD24}</a:tableStyleId>
              </a:tblPr>
              <a:tblGrid>
                <a:gridCol w="4148292">
                  <a:extLst>
                    <a:ext uri="{9D8B030D-6E8A-4147-A177-3AD203B41FA5}">
                      <a16:colId xmlns="" xmlns:a16="http://schemas.microsoft.com/office/drawing/2014/main" val="2982546524"/>
                    </a:ext>
                  </a:extLst>
                </a:gridCol>
                <a:gridCol w="6694967">
                  <a:extLst>
                    <a:ext uri="{9D8B030D-6E8A-4147-A177-3AD203B41FA5}">
                      <a16:colId xmlns="" xmlns:a16="http://schemas.microsoft.com/office/drawing/2014/main" val="2043292802"/>
                    </a:ext>
                  </a:extLst>
                </a:gridCol>
              </a:tblGrid>
              <a:tr h="23406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  <a:latin typeface="Algerian" panose="04020705040A02060702" pitchFamily="82" charset="0"/>
                        </a:rPr>
                        <a:t>CONTENT STANDARD</a:t>
                      </a:r>
                      <a:endParaRPr lang="en-US" sz="2500" dirty="0">
                        <a:effectLst/>
                        <a:latin typeface="Algerian" panose="04020705040A02060702" pitchFamily="8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0" dirty="0">
                          <a:effectLst/>
                        </a:rPr>
                        <a:t>The </a:t>
                      </a:r>
                      <a:r>
                        <a:rPr lang="en-US" sz="3200" b="0" dirty="0" smtClean="0">
                          <a:effectLst/>
                        </a:rPr>
                        <a:t>learners demonstrate</a:t>
                      </a:r>
                      <a:r>
                        <a:rPr lang="en-US" sz="3200" b="0" baseline="0" dirty="0" smtClean="0">
                          <a:effectLst/>
                        </a:rPr>
                        <a:t> </a:t>
                      </a:r>
                      <a:r>
                        <a:rPr lang="en-US" sz="3200" b="0" dirty="0" smtClean="0">
                          <a:effectLst/>
                        </a:rPr>
                        <a:t>understanding </a:t>
                      </a:r>
                      <a:r>
                        <a:rPr lang="en-US" sz="3200" b="0" dirty="0">
                          <a:effectLst/>
                        </a:rPr>
                        <a:t>about the different formats on how to acknowledge citations by preparing a Bibliography. </a:t>
                      </a:r>
                      <a:endParaRPr lang="en-US" sz="3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98132789"/>
                  </a:ext>
                </a:extLst>
              </a:tr>
              <a:tr h="15914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  <a:latin typeface="Algerian" panose="04020705040A02060702" pitchFamily="82" charset="0"/>
                        </a:rPr>
                        <a:t>PERFORMANCE STANDARD</a:t>
                      </a:r>
                      <a:endParaRPr lang="en-US" sz="2500" dirty="0">
                        <a:effectLst/>
                        <a:latin typeface="Algerian" panose="04020705040A02060702" pitchFamily="8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The </a:t>
                      </a:r>
                      <a:r>
                        <a:rPr lang="en-US" sz="3200" dirty="0" smtClean="0">
                          <a:effectLst/>
                        </a:rPr>
                        <a:t>learners use </a:t>
                      </a:r>
                      <a:r>
                        <a:rPr lang="en-US" sz="3200" dirty="0">
                          <a:effectLst/>
                        </a:rPr>
                        <a:t>writing conventions to indicate acknowledgement of resources. </a:t>
                      </a:r>
                      <a:endParaRPr lang="en-US" sz="3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26964548"/>
                  </a:ext>
                </a:extLst>
              </a:tr>
              <a:tr h="21219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  <a:latin typeface="Algerian" panose="04020705040A02060702" pitchFamily="82" charset="0"/>
                        </a:rPr>
                        <a:t>COMPETENCIES</a:t>
                      </a:r>
                      <a:endParaRPr lang="en-US" sz="2500" dirty="0">
                        <a:effectLst/>
                        <a:latin typeface="Algerian" panose="04020705040A02060702" pitchFamily="8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The </a:t>
                      </a:r>
                      <a:r>
                        <a:rPr lang="en-US" sz="3200" dirty="0" smtClean="0">
                          <a:effectLst/>
                        </a:rPr>
                        <a:t>learners write </a:t>
                      </a:r>
                      <a:r>
                        <a:rPr lang="en-US" sz="3200" dirty="0">
                          <a:effectLst/>
                        </a:rPr>
                        <a:t>the correct format of bibliography </a:t>
                      </a:r>
                      <a:r>
                        <a:rPr lang="en-US" sz="3200" dirty="0" smtClean="0">
                          <a:effectLst/>
                        </a:rPr>
                        <a:t>for </a:t>
                      </a:r>
                      <a:r>
                        <a:rPr lang="en-US" sz="3200" dirty="0">
                          <a:effectLst/>
                        </a:rPr>
                        <a:t>different reference materials. </a:t>
                      </a:r>
                      <a:endParaRPr lang="en-US" sz="3200" dirty="0" smtClean="0">
                        <a:effectLst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effectLst/>
                        </a:rPr>
                        <a:t>EN10SS-Iie-1.6.4</a:t>
                      </a:r>
                      <a:endParaRPr lang="en-US" sz="3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94344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82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43225" y="514350"/>
            <a:ext cx="9248775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000" b="1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OBJECTIVES</a:t>
            </a:r>
            <a:r>
              <a:rPr lang="en-US" sz="5000" b="1" dirty="0" smtClean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:</a:t>
            </a:r>
            <a:endParaRPr lang="en-US" sz="4000" b="1" dirty="0"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4000" b="1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Cite sources in different reference materials.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4000" b="1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Apply the format in different resources. </a:t>
            </a:r>
          </a:p>
          <a:p>
            <a:endParaRPr lang="en-US" sz="4000" b="1" dirty="0"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en-US" sz="4000" b="1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TIME FRAME: </a:t>
            </a:r>
          </a:p>
          <a:p>
            <a:r>
              <a:rPr lang="en-US" sz="4000" b="1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            2 meetings</a:t>
            </a:r>
          </a:p>
          <a:p>
            <a:endParaRPr lang="en-US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92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5275" y="393293"/>
            <a:ext cx="1151382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TASK 1: WHY DO WE CITE SOURCES?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3200" b="1" dirty="0" smtClean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The class will be divided into four (4) groups.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3200" b="1" dirty="0" smtClean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Have them discuss the following lead questions:</a:t>
            </a:r>
          </a:p>
          <a:p>
            <a:pPr marL="1428750" lvl="2" indent="-514350">
              <a:buFont typeface="+mj-lt"/>
              <a:buAutoNum type="alphaLcPeriod"/>
            </a:pPr>
            <a:r>
              <a:rPr lang="en-US" sz="3200" b="1" dirty="0" smtClean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Could anything bad happen to you if you copied someone else’s idea or words and didn’t give them credit?</a:t>
            </a:r>
          </a:p>
          <a:p>
            <a:pPr marL="1428750" lvl="2" indent="-514350">
              <a:buFont typeface="+mj-lt"/>
              <a:buAutoNum type="alphaLcPeriod"/>
            </a:pPr>
            <a:r>
              <a:rPr lang="en-US" sz="3200" b="1" dirty="0" smtClean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How would you feel if someone stole your idea and didn’t give you credit ?</a:t>
            </a:r>
          </a:p>
          <a:p>
            <a:pPr marL="1428750" lvl="2" indent="-514350">
              <a:buFont typeface="+mj-lt"/>
              <a:buAutoNum type="alphaLcPeriod"/>
            </a:pPr>
            <a:r>
              <a:rPr lang="en-US" sz="3200" b="1" dirty="0" smtClean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What do you think should happen to them if they will steal your idea? Why?</a:t>
            </a:r>
          </a:p>
          <a:p>
            <a:pPr marL="1428750" lvl="2" indent="-514350">
              <a:buFont typeface="+mj-lt"/>
              <a:buAutoNum type="alphaLcPeriod"/>
            </a:pPr>
            <a:r>
              <a:rPr lang="en-US" sz="3200" b="1" dirty="0" smtClean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Why might it be unfair to use someone else’s work without giving them credit?</a:t>
            </a:r>
          </a:p>
          <a:p>
            <a:endParaRPr lang="en-US" sz="2000" b="1" dirty="0"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5236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9374" y="362475"/>
            <a:ext cx="488146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012574" y="2918861"/>
            <a:ext cx="5750426" cy="378541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800" b="1" dirty="0">
                <a:solidFill>
                  <a:schemeClr val="tx1"/>
                </a:solidFill>
              </a:rPr>
              <a:t> </a:t>
            </a:r>
            <a:r>
              <a:rPr lang="en-US" sz="3800" dirty="0"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It is a list of all of the sources you have used (whether referenced or not) in the process of researching your work.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87680" y="1639602"/>
            <a:ext cx="4746861" cy="8697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BIBLIOGRAPHY</a:t>
            </a:r>
          </a:p>
        </p:txBody>
      </p:sp>
      <p:pic>
        <p:nvPicPr>
          <p:cNvPr id="5" name="Picture 2" descr="Image result for bibliography part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01317" y="545355"/>
            <a:ext cx="3713036" cy="556260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059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636" y="-161368"/>
            <a:ext cx="5616217" cy="16223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Bibliography includes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636" y="1257300"/>
            <a:ext cx="6330264" cy="4761095"/>
          </a:xfrm>
        </p:spPr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3200" b="1" dirty="0" smtClean="0"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the authors' names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3200" b="1" dirty="0" smtClean="0"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the titles of the works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3200" b="1" dirty="0" smtClean="0"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the names and locations of the companies that published your copies of the sources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3200" b="1" dirty="0" smtClean="0"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the dates your copies were published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3200" b="1" dirty="0" smtClean="0"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the page numbers of your sources (if they are part of multi-source volumes)</a:t>
            </a:r>
          </a:p>
          <a:p>
            <a:endParaRPr lang="en-US" sz="32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10246" name="Picture 6" descr="Image result for el filibusterismo 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73" y="203144"/>
            <a:ext cx="4476494" cy="6451710"/>
          </a:xfrm>
          <a:prstGeom prst="rect">
            <a:avLst/>
          </a:prstGeom>
          <a:ln w="25400">
            <a:solidFill>
              <a:schemeClr val="tx1"/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ight Brace 23"/>
          <p:cNvSpPr/>
          <p:nvPr/>
        </p:nvSpPr>
        <p:spPr>
          <a:xfrm>
            <a:off x="2615002" y="5111910"/>
            <a:ext cx="374942" cy="1027633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354065" y="4389447"/>
            <a:ext cx="543806" cy="35501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7" name="Oval 46"/>
          <p:cNvSpPr/>
          <p:nvPr/>
        </p:nvSpPr>
        <p:spPr>
          <a:xfrm>
            <a:off x="2206478" y="551543"/>
            <a:ext cx="783466" cy="5914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9" name="Oval 48"/>
          <p:cNvSpPr/>
          <p:nvPr/>
        </p:nvSpPr>
        <p:spPr>
          <a:xfrm>
            <a:off x="4154216" y="5179940"/>
            <a:ext cx="543806" cy="35501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0" name="Oval 49"/>
          <p:cNvSpPr/>
          <p:nvPr/>
        </p:nvSpPr>
        <p:spPr>
          <a:xfrm>
            <a:off x="4738916" y="1572134"/>
            <a:ext cx="543806" cy="35501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7306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24" grpId="0" animBg="1"/>
      <p:bldP spid="43" grpId="0" animBg="1"/>
      <p:bldP spid="47" grpId="0" animBg="1"/>
      <p:bldP spid="49" grpId="0" animBg="1"/>
      <p:bldP spid="5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47108"/>
              </p:ext>
            </p:extLst>
          </p:nvPr>
        </p:nvGraphicFramePr>
        <p:xfrm>
          <a:off x="644347" y="1099231"/>
          <a:ext cx="11014254" cy="5255165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2244817">
                  <a:extLst>
                    <a:ext uri="{9D8B030D-6E8A-4147-A177-3AD203B41FA5}">
                      <a16:colId xmlns="" xmlns:a16="http://schemas.microsoft.com/office/drawing/2014/main" val="312576366"/>
                    </a:ext>
                  </a:extLst>
                </a:gridCol>
                <a:gridCol w="3480791">
                  <a:extLst>
                    <a:ext uri="{9D8B030D-6E8A-4147-A177-3AD203B41FA5}">
                      <a16:colId xmlns="" xmlns:a16="http://schemas.microsoft.com/office/drawing/2014/main" val="2307302068"/>
                    </a:ext>
                  </a:extLst>
                </a:gridCol>
                <a:gridCol w="5288646">
                  <a:extLst>
                    <a:ext uri="{9D8B030D-6E8A-4147-A177-3AD203B41FA5}">
                      <a16:colId xmlns="" xmlns:a16="http://schemas.microsoft.com/office/drawing/2014/main" val="4161078148"/>
                    </a:ext>
                  </a:extLst>
                </a:gridCol>
              </a:tblGrid>
              <a:tr h="13293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 smtClean="0">
                          <a:effectLst/>
                        </a:rPr>
                        <a:t>REFERENCE MATERIAL</a:t>
                      </a:r>
                      <a:endParaRPr lang="en-US" sz="3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 smtClean="0">
                          <a:effectLst/>
                        </a:rPr>
                        <a:t>FORMAT</a:t>
                      </a:r>
                      <a:endParaRPr lang="en-US" sz="3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 smtClean="0">
                          <a:effectLst/>
                        </a:rPr>
                        <a:t>EXAMPLE</a:t>
                      </a:r>
                      <a:endParaRPr lang="en-US" sz="3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06183777"/>
                  </a:ext>
                </a:extLst>
              </a:tr>
              <a:tr h="378172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1. </a:t>
                      </a:r>
                      <a:r>
                        <a:rPr lang="en-US" sz="3200" dirty="0" smtClean="0">
                          <a:effectLst/>
                        </a:rPr>
                        <a:t>BOOK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Author`s last name, 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First Initial. (Publication date).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Book title. City of publication: Publishing company.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/>
                        <a:t> </a:t>
                      </a:r>
                    </a:p>
                    <a:p>
                      <a:pPr marL="457200" marR="0" lvl="1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err="1"/>
                        <a:t>Liwanag</a:t>
                      </a:r>
                      <a:r>
                        <a:rPr lang="en-US" sz="3200" dirty="0"/>
                        <a:t>, E. (2014). </a:t>
                      </a:r>
                      <a:r>
                        <a:rPr lang="en-US" sz="3200" dirty="0" err="1"/>
                        <a:t>Alab</a:t>
                      </a:r>
                      <a:r>
                        <a:rPr lang="en-US" sz="3200" dirty="0"/>
                        <a:t> ng </a:t>
                      </a:r>
                      <a:r>
                        <a:rPr lang="en-US" sz="3200" dirty="0" err="1"/>
                        <a:t>Lahi</a:t>
                      </a:r>
                      <a:r>
                        <a:rPr lang="en-US" sz="3200" dirty="0"/>
                        <a:t> –El </a:t>
                      </a:r>
                      <a:r>
                        <a:rPr lang="en-US" sz="3200" dirty="0" err="1"/>
                        <a:t>Filibusterismo</a:t>
                      </a:r>
                      <a:r>
                        <a:rPr lang="en-US" sz="3200" dirty="0"/>
                        <a:t>. Quezon City: </a:t>
                      </a:r>
                      <a:r>
                        <a:rPr lang="en-US" sz="3200" dirty="0" err="1"/>
                        <a:t>Vibal</a:t>
                      </a:r>
                      <a:r>
                        <a:rPr lang="en-US" sz="3200" dirty="0"/>
                        <a:t> Publishing House, Inc.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782845321"/>
                  </a:ext>
                </a:extLst>
              </a:tr>
            </a:tbl>
          </a:graphicData>
        </a:graphic>
      </p:graphicFrame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65478" y="297190"/>
            <a:ext cx="10388222" cy="65275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FORMATS FOR DIFFERENT REFERENCE MATERIALS</a:t>
            </a:r>
            <a:endParaRPr lang="en-US" sz="40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94551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8876" y="242858"/>
            <a:ext cx="11381835" cy="5672167"/>
          </a:xfrm>
          <a:prstGeom prst="rect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2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242858"/>
            <a:ext cx="9404723" cy="810025"/>
          </a:xfrm>
        </p:spPr>
        <p:txBody>
          <a:bodyPr>
            <a:normAutofit/>
          </a:bodyPr>
          <a:lstStyle/>
          <a:p>
            <a:r>
              <a:rPr lang="en-US" sz="4500" b="1" dirty="0">
                <a:solidFill>
                  <a:schemeClr val="tx1"/>
                </a:solidFill>
              </a:rPr>
              <a:t>SAMPLE FORMAT </a:t>
            </a:r>
            <a:r>
              <a:rPr lang="en-US" sz="4500" b="1" dirty="0" smtClean="0">
                <a:solidFill>
                  <a:schemeClr val="tx1"/>
                </a:solidFill>
              </a:rPr>
              <a:t>:		BOOK</a:t>
            </a:r>
            <a:endParaRPr lang="en-US" sz="45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2477703"/>
            <a:ext cx="11069639" cy="182447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 err="1">
                <a:solidFill>
                  <a:srgbClr val="FF0000"/>
                </a:solidFill>
              </a:rPr>
              <a:t>Liwanag</a:t>
            </a:r>
            <a:r>
              <a:rPr lang="en-US" sz="3200" dirty="0">
                <a:solidFill>
                  <a:srgbClr val="FF0000"/>
                </a:solidFill>
              </a:rPr>
              <a:t>, E.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(2014). </a:t>
            </a:r>
            <a:r>
              <a:rPr lang="en-US" sz="3200" dirty="0" err="1">
                <a:solidFill>
                  <a:srgbClr val="0000FF"/>
                </a:solidFill>
              </a:rPr>
              <a:t>Alab</a:t>
            </a:r>
            <a:r>
              <a:rPr lang="en-US" sz="3200" dirty="0">
                <a:solidFill>
                  <a:srgbClr val="0000FF"/>
                </a:solidFill>
              </a:rPr>
              <a:t> ng </a:t>
            </a:r>
            <a:r>
              <a:rPr lang="en-US" sz="3200" dirty="0" err="1">
                <a:solidFill>
                  <a:srgbClr val="0000FF"/>
                </a:solidFill>
              </a:rPr>
              <a:t>Lahi</a:t>
            </a:r>
            <a:r>
              <a:rPr lang="en-US" sz="3200" dirty="0">
                <a:solidFill>
                  <a:srgbClr val="0000FF"/>
                </a:solidFill>
              </a:rPr>
              <a:t> –El </a:t>
            </a:r>
            <a:r>
              <a:rPr lang="en-US" sz="3200" dirty="0" err="1">
                <a:solidFill>
                  <a:srgbClr val="0000FF"/>
                </a:solidFill>
              </a:rPr>
              <a:t>Filibusterismo</a:t>
            </a:r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.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7030A0"/>
                </a:solidFill>
              </a:rPr>
              <a:t>Quezon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dirty="0">
                <a:solidFill>
                  <a:srgbClr val="7030A0"/>
                </a:solidFill>
              </a:rPr>
              <a:t>City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3200" dirty="0" err="1"/>
              <a:t>Vibal</a:t>
            </a:r>
            <a:r>
              <a:rPr lang="en-US" sz="3200" dirty="0"/>
              <a:t> Publishing House, Inc.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2385" y="1797844"/>
            <a:ext cx="2899830" cy="945356"/>
            <a:chOff x="622385" y="1797844"/>
            <a:chExt cx="2899830" cy="945356"/>
          </a:xfrm>
        </p:grpSpPr>
        <p:cxnSp>
          <p:nvCxnSpPr>
            <p:cNvPr id="5" name="Straight Connector 4"/>
            <p:cNvCxnSpPr>
              <a:cxnSpLocks/>
            </p:cNvCxnSpPr>
            <p:nvPr/>
          </p:nvCxnSpPr>
          <p:spPr>
            <a:xfrm>
              <a:off x="1588957" y="2293495"/>
              <a:ext cx="194873" cy="449705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622385" y="1797844"/>
              <a:ext cx="28998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AUTHOR’S NAME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440476" y="1237091"/>
            <a:ext cx="2899830" cy="1380580"/>
            <a:chOff x="2936349" y="1362620"/>
            <a:chExt cx="2899830" cy="1380580"/>
          </a:xfrm>
        </p:grpSpPr>
        <p:cxnSp>
          <p:nvCxnSpPr>
            <p:cNvPr id="8" name="Straight Connector 7"/>
            <p:cNvCxnSpPr>
              <a:cxnSpLocks/>
            </p:cNvCxnSpPr>
            <p:nvPr/>
          </p:nvCxnSpPr>
          <p:spPr>
            <a:xfrm flipH="1">
              <a:off x="3934918" y="2329605"/>
              <a:ext cx="66197" cy="413595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936349" y="1362620"/>
              <a:ext cx="28998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n w="22225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YEAR OF PUBLICATION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994862" y="1391843"/>
            <a:ext cx="2899830" cy="1225828"/>
            <a:chOff x="6031051" y="1417494"/>
            <a:chExt cx="2899830" cy="1225828"/>
          </a:xfrm>
        </p:grpSpPr>
        <p:cxnSp>
          <p:nvCxnSpPr>
            <p:cNvPr id="13" name="Straight Connector 12"/>
            <p:cNvCxnSpPr>
              <a:cxnSpLocks/>
            </p:cNvCxnSpPr>
            <p:nvPr/>
          </p:nvCxnSpPr>
          <p:spPr>
            <a:xfrm>
              <a:off x="7330190" y="2160747"/>
              <a:ext cx="9993" cy="482575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6031051" y="1417494"/>
              <a:ext cx="2899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n w="12700" cmpd="sng">
                    <a:solidFill>
                      <a:schemeClr val="accent4"/>
                    </a:solidFill>
                    <a:prstDash val="solid"/>
                  </a:ln>
                  <a:solidFill>
                    <a:srgbClr val="0000FF"/>
                  </a:solidFill>
                </a:rPr>
                <a:t>BOOK TITLE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364618" y="4106316"/>
            <a:ext cx="2899830" cy="1342590"/>
            <a:chOff x="4354561" y="3929921"/>
            <a:chExt cx="2899830" cy="1342590"/>
          </a:xfrm>
        </p:grpSpPr>
        <p:sp>
          <p:nvSpPr>
            <p:cNvPr id="20" name="TextBox 19"/>
            <p:cNvSpPr txBox="1"/>
            <p:nvPr/>
          </p:nvSpPr>
          <p:spPr>
            <a:xfrm>
              <a:off x="4354561" y="4441514"/>
              <a:ext cx="28998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PUBLISHING COMPANY</a:t>
              </a:r>
            </a:p>
          </p:txBody>
        </p:sp>
        <p:cxnSp>
          <p:nvCxnSpPr>
            <p:cNvPr id="21" name="Straight Connector 20"/>
            <p:cNvCxnSpPr>
              <a:cxnSpLocks/>
            </p:cNvCxnSpPr>
            <p:nvPr/>
          </p:nvCxnSpPr>
          <p:spPr>
            <a:xfrm flipV="1">
              <a:off x="5891798" y="3929921"/>
              <a:ext cx="0" cy="511828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/>
          <p:cNvGrpSpPr/>
          <p:nvPr/>
        </p:nvGrpSpPr>
        <p:grpSpPr>
          <a:xfrm>
            <a:off x="8930881" y="3287728"/>
            <a:ext cx="2899830" cy="1551220"/>
            <a:chOff x="781019" y="3882452"/>
            <a:chExt cx="2899830" cy="1551220"/>
          </a:xfrm>
        </p:grpSpPr>
        <p:cxnSp>
          <p:nvCxnSpPr>
            <p:cNvPr id="18" name="Straight Connector 17"/>
            <p:cNvCxnSpPr>
              <a:cxnSpLocks/>
            </p:cNvCxnSpPr>
            <p:nvPr/>
          </p:nvCxnSpPr>
          <p:spPr>
            <a:xfrm flipV="1">
              <a:off x="2127635" y="3882452"/>
              <a:ext cx="0" cy="511828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781019" y="4602675"/>
              <a:ext cx="28998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n w="22225">
                    <a:solidFill>
                      <a:schemeClr val="accent5">
                        <a:lumMod val="75000"/>
                      </a:schemeClr>
                    </a:solidFill>
                    <a:prstDash val="solid"/>
                  </a:ln>
                  <a:solidFill>
                    <a:srgbClr val="7030A0"/>
                  </a:solidFill>
                </a:rPr>
                <a:t>PLACE OF PUBLICATION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294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743598"/>
              </p:ext>
            </p:extLst>
          </p:nvPr>
        </p:nvGraphicFramePr>
        <p:xfrm>
          <a:off x="514348" y="393541"/>
          <a:ext cx="10618108" cy="5600859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3151000">
                  <a:extLst>
                    <a:ext uri="{9D8B030D-6E8A-4147-A177-3AD203B41FA5}">
                      <a16:colId xmlns="" xmlns:a16="http://schemas.microsoft.com/office/drawing/2014/main" val="312576366"/>
                    </a:ext>
                  </a:extLst>
                </a:gridCol>
                <a:gridCol w="3267110">
                  <a:extLst>
                    <a:ext uri="{9D8B030D-6E8A-4147-A177-3AD203B41FA5}">
                      <a16:colId xmlns="" xmlns:a16="http://schemas.microsoft.com/office/drawing/2014/main" val="2307302068"/>
                    </a:ext>
                  </a:extLst>
                </a:gridCol>
                <a:gridCol w="4199998">
                  <a:extLst>
                    <a:ext uri="{9D8B030D-6E8A-4147-A177-3AD203B41FA5}">
                      <a16:colId xmlns="" xmlns:a16="http://schemas.microsoft.com/office/drawing/2014/main" val="4161078148"/>
                    </a:ext>
                  </a:extLst>
                </a:gridCol>
              </a:tblGrid>
              <a:tr h="8828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Reference </a:t>
                      </a:r>
                      <a:r>
                        <a:rPr lang="en-US" sz="2800" dirty="0" smtClean="0">
                          <a:effectLst/>
                        </a:rPr>
                        <a:t>Material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Format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Example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06183777"/>
                  </a:ext>
                </a:extLst>
              </a:tr>
              <a:tr h="471802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2. </a:t>
                      </a:r>
                      <a:r>
                        <a:rPr lang="en-US" sz="2800" dirty="0" smtClean="0">
                          <a:effectLst/>
                        </a:rPr>
                        <a:t>ENCYCLOPEDIA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Author`s last name,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First Initial. (Date).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Title of Article. Title of Encyclopedia (Volume, pages).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City of publication: Publishing company.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Bergmann, P. G. (1993). Relativity.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In The New Encyclopedia Britannica (Vol. 26, pp. 501-508).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Chicago: World Book, Inc.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782845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97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437021" y="409967"/>
            <a:ext cx="11381835" cy="5672167"/>
          </a:xfrm>
          <a:prstGeom prst="rect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2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ectangle 3"/>
          <p:cNvSpPr/>
          <p:nvPr/>
        </p:nvSpPr>
        <p:spPr>
          <a:xfrm>
            <a:off x="898217" y="2192289"/>
            <a:ext cx="1095281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Bergmann, P. G.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(1993). </a:t>
            </a:r>
            <a:r>
              <a:rPr lang="en-US" sz="2800" dirty="0" smtClean="0">
                <a:solidFill>
                  <a:srgbClr val="7030A0"/>
                </a:solidFill>
              </a:rPr>
              <a:t>Relativity.</a:t>
            </a:r>
            <a:endParaRPr lang="en-US" sz="2400" dirty="0" smtClean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</a:rPr>
              <a:t>In The New Encyclopedia Britannica (Vol. 26, pp. 501-508).</a:t>
            </a:r>
            <a:endParaRPr lang="en-US" sz="24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FF0000"/>
                </a:solidFill>
              </a:rPr>
              <a:t>Chicago:</a:t>
            </a:r>
            <a:r>
              <a:rPr lang="en-US" sz="2800" dirty="0" smtClean="0"/>
              <a:t> World Book, Inc.</a:t>
            </a:r>
            <a:endParaRPr lang="en-US" sz="28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762571" y="1442667"/>
            <a:ext cx="2393604" cy="989462"/>
            <a:chOff x="762571" y="1442667"/>
            <a:chExt cx="2393604" cy="989462"/>
          </a:xfrm>
        </p:grpSpPr>
        <p:sp>
          <p:nvSpPr>
            <p:cNvPr id="5" name="Rectangle 4"/>
            <p:cNvSpPr/>
            <p:nvPr/>
          </p:nvSpPr>
          <p:spPr>
            <a:xfrm>
              <a:off x="762571" y="1442667"/>
              <a:ext cx="2393604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1" dirty="0" smtClean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tx2">
                      <a:lumMod val="75000"/>
                    </a:schemeClr>
                  </a:solidFill>
                </a:rPr>
                <a:t>AUTHOR’S NAME</a:t>
              </a:r>
              <a:endParaRPr lang="en-US" sz="2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endParaRPr>
            </a:p>
          </p:txBody>
        </p:sp>
        <p:cxnSp>
          <p:nvCxnSpPr>
            <p:cNvPr id="6" name="Straight Connector 5"/>
            <p:cNvCxnSpPr>
              <a:cxnSpLocks/>
            </p:cNvCxnSpPr>
            <p:nvPr/>
          </p:nvCxnSpPr>
          <p:spPr>
            <a:xfrm>
              <a:off x="1959373" y="1904332"/>
              <a:ext cx="0" cy="527797"/>
            </a:xfrm>
            <a:prstGeom prst="line">
              <a:avLst/>
            </a:prstGeom>
            <a:ln w="57150">
              <a:solidFill>
                <a:schemeClr val="tx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2809009" y="1184563"/>
            <a:ext cx="2899830" cy="1244592"/>
            <a:chOff x="3228109" y="1184563"/>
            <a:chExt cx="2899830" cy="1244592"/>
          </a:xfrm>
        </p:grpSpPr>
        <p:cxnSp>
          <p:nvCxnSpPr>
            <p:cNvPr id="8" name="Straight Connector 7"/>
            <p:cNvCxnSpPr>
              <a:cxnSpLocks/>
            </p:cNvCxnSpPr>
            <p:nvPr/>
          </p:nvCxnSpPr>
          <p:spPr>
            <a:xfrm flipH="1">
              <a:off x="4241570" y="2015560"/>
              <a:ext cx="66197" cy="413595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228109" y="1184563"/>
              <a:ext cx="28998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n w="22225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YEAR OF PUBLICATION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435710" y="1422864"/>
            <a:ext cx="2899830" cy="1042173"/>
            <a:chOff x="6174492" y="1386982"/>
            <a:chExt cx="2899830" cy="1042173"/>
          </a:xfrm>
        </p:grpSpPr>
        <p:cxnSp>
          <p:nvCxnSpPr>
            <p:cNvPr id="10" name="Straight Connector 9"/>
            <p:cNvCxnSpPr>
              <a:cxnSpLocks/>
            </p:cNvCxnSpPr>
            <p:nvPr/>
          </p:nvCxnSpPr>
          <p:spPr>
            <a:xfrm flipH="1">
              <a:off x="6547224" y="1971757"/>
              <a:ext cx="551925" cy="457398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6174492" y="1386982"/>
              <a:ext cx="2899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n w="12700" cmpd="sng">
                    <a:solidFill>
                      <a:schemeClr val="accent4"/>
                    </a:solidFill>
                    <a:prstDash val="solid"/>
                  </a:ln>
                  <a:solidFill>
                    <a:srgbClr val="7030A0"/>
                  </a:solidFill>
                </a:rPr>
                <a:t>ARTICLE TITLE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99397" y="4382355"/>
            <a:ext cx="2899830" cy="1551220"/>
            <a:chOff x="599397" y="4382355"/>
            <a:chExt cx="2899830" cy="1551220"/>
          </a:xfrm>
        </p:grpSpPr>
        <p:cxnSp>
          <p:nvCxnSpPr>
            <p:cNvPr id="18" name="Straight Connector 17"/>
            <p:cNvCxnSpPr>
              <a:cxnSpLocks/>
            </p:cNvCxnSpPr>
            <p:nvPr/>
          </p:nvCxnSpPr>
          <p:spPr>
            <a:xfrm flipV="1">
              <a:off x="1946013" y="4382355"/>
              <a:ext cx="0" cy="511828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99397" y="5102578"/>
              <a:ext cx="28998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n w="22225">
                    <a:solidFill>
                      <a:srgbClr val="FF0000"/>
                    </a:solidFill>
                    <a:prstDash val="solid"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PLACE OF PUBLICATION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825149" y="4255059"/>
            <a:ext cx="2899830" cy="1380476"/>
            <a:chOff x="2958499" y="4255059"/>
            <a:chExt cx="2899830" cy="1380476"/>
          </a:xfrm>
        </p:grpSpPr>
        <p:sp>
          <p:nvSpPr>
            <p:cNvPr id="20" name="TextBox 19"/>
            <p:cNvSpPr txBox="1"/>
            <p:nvPr/>
          </p:nvSpPr>
          <p:spPr>
            <a:xfrm>
              <a:off x="2958499" y="4804538"/>
              <a:ext cx="28998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PUBLISHING COMPANY</a:t>
              </a:r>
            </a:p>
          </p:txBody>
        </p:sp>
        <p:cxnSp>
          <p:nvCxnSpPr>
            <p:cNvPr id="21" name="Straight Connector 20"/>
            <p:cNvCxnSpPr>
              <a:cxnSpLocks/>
            </p:cNvCxnSpPr>
            <p:nvPr/>
          </p:nvCxnSpPr>
          <p:spPr>
            <a:xfrm flipV="1">
              <a:off x="3942182" y="4255059"/>
              <a:ext cx="0" cy="511828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itle 1"/>
          <p:cNvSpPr txBox="1">
            <a:spLocks/>
          </p:cNvSpPr>
          <p:nvPr/>
        </p:nvSpPr>
        <p:spPr>
          <a:xfrm>
            <a:off x="475029" y="456730"/>
            <a:ext cx="9404723" cy="81002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SAMPLE FORMAT : </a:t>
            </a:r>
            <a:r>
              <a:rPr lang="en-US" b="1" dirty="0" smtClean="0">
                <a:solidFill>
                  <a:schemeClr val="tx1"/>
                </a:solidFill>
              </a:rPr>
              <a:t>ENCYCLOPEDIA</a:t>
            </a: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2657152" y="3354985"/>
            <a:ext cx="7222600" cy="1411902"/>
            <a:chOff x="2657152" y="3354985"/>
            <a:chExt cx="7222600" cy="1411902"/>
          </a:xfrm>
        </p:grpSpPr>
        <p:sp>
          <p:nvSpPr>
            <p:cNvPr id="16" name="TextBox 15"/>
            <p:cNvSpPr txBox="1"/>
            <p:nvPr/>
          </p:nvSpPr>
          <p:spPr>
            <a:xfrm>
              <a:off x="4858048" y="3935890"/>
              <a:ext cx="50217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n w="22225">
                    <a:solidFill>
                      <a:schemeClr val="accent5">
                        <a:lumMod val="75000"/>
                      </a:schemeClr>
                    </a:solidFill>
                    <a:prstDash val="solid"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TITLE OF ENCYCLOPEDIA,VOLUME PAGES</a:t>
              </a:r>
            </a:p>
          </p:txBody>
        </p:sp>
        <p:sp>
          <p:nvSpPr>
            <p:cNvPr id="26" name="Left Brace 25"/>
            <p:cNvSpPr/>
            <p:nvPr/>
          </p:nvSpPr>
          <p:spPr>
            <a:xfrm rot="16200000">
              <a:off x="5439106" y="573031"/>
              <a:ext cx="489914" cy="6053821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408367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86628"/>
              </p:ext>
            </p:extLst>
          </p:nvPr>
        </p:nvGraphicFramePr>
        <p:xfrm>
          <a:off x="516907" y="720222"/>
          <a:ext cx="10874992" cy="5330963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2664443">
                  <a:extLst>
                    <a:ext uri="{9D8B030D-6E8A-4147-A177-3AD203B41FA5}">
                      <a16:colId xmlns="" xmlns:a16="http://schemas.microsoft.com/office/drawing/2014/main" val="312576366"/>
                    </a:ext>
                  </a:extLst>
                </a:gridCol>
                <a:gridCol w="3238500">
                  <a:extLst>
                    <a:ext uri="{9D8B030D-6E8A-4147-A177-3AD203B41FA5}">
                      <a16:colId xmlns="" xmlns:a16="http://schemas.microsoft.com/office/drawing/2014/main" val="2307302068"/>
                    </a:ext>
                  </a:extLst>
                </a:gridCol>
                <a:gridCol w="4972049">
                  <a:extLst>
                    <a:ext uri="{9D8B030D-6E8A-4147-A177-3AD203B41FA5}">
                      <a16:colId xmlns="" xmlns:a16="http://schemas.microsoft.com/office/drawing/2014/main" val="4161078148"/>
                    </a:ext>
                  </a:extLst>
                </a:gridCol>
              </a:tblGrid>
              <a:tr h="9759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Reference </a:t>
                      </a:r>
                      <a:r>
                        <a:rPr lang="en-US" sz="3200" dirty="0" smtClean="0">
                          <a:effectLst/>
                        </a:rPr>
                        <a:t>Material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Format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effectLst/>
                        </a:rPr>
                        <a:t>Example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06183777"/>
                  </a:ext>
                </a:extLst>
              </a:tr>
              <a:tr h="42092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3. </a:t>
                      </a:r>
                      <a:r>
                        <a:rPr lang="en-US" sz="3200" dirty="0" smtClean="0">
                          <a:effectLst/>
                        </a:rPr>
                        <a:t>MAGAZINE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Author`s last name, first initial. (Publication date). Article title. Periodical title, volume </a:t>
                      </a:r>
                      <a:r>
                        <a:rPr lang="en-US" sz="3200" dirty="0" smtClean="0">
                          <a:effectLst/>
                        </a:rPr>
                        <a:t>number.</a:t>
                      </a:r>
                      <a:r>
                        <a:rPr lang="en-US" sz="3200" baseline="0" dirty="0" smtClean="0">
                          <a:effectLst/>
                        </a:rPr>
                        <a:t> </a:t>
                      </a:r>
                      <a:endParaRPr lang="en-US" sz="2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</a:endParaRPr>
                    </a:p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Henry, W.A.,  III. (2016, April 9). Making the grade in today`s schools. Time Magazine, Vol. 28-31.</a:t>
                      </a:r>
                      <a:endParaRPr lang="en-US" sz="2800" dirty="0">
                        <a:effectLst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782845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78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457797" y="429457"/>
            <a:ext cx="11381835" cy="5672167"/>
          </a:xfrm>
          <a:prstGeom prst="rect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2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Rectangle 1"/>
          <p:cNvSpPr/>
          <p:nvPr/>
        </p:nvSpPr>
        <p:spPr>
          <a:xfrm>
            <a:off x="957185" y="3028675"/>
            <a:ext cx="10952812" cy="1949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Henry, W.A.,  III.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(2016, April 9). </a:t>
            </a:r>
            <a:r>
              <a:rPr lang="en-US" sz="2800" dirty="0">
                <a:solidFill>
                  <a:srgbClr val="7030A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Making the grade in today`s schools. </a:t>
            </a:r>
            <a:endParaRPr lang="en-US" sz="2800" dirty="0" smtClean="0">
              <a:solidFill>
                <a:srgbClr val="7030A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0070C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sz="2800" dirty="0">
                <a:solidFill>
                  <a:srgbClr val="0070C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Magazine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Vol. 28-31.</a:t>
            </a:r>
            <a:endParaRPr lang="en-US" sz="2400" dirty="0">
              <a:solidFill>
                <a:srgbClr val="FF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821539" y="2279053"/>
            <a:ext cx="2393604" cy="989462"/>
            <a:chOff x="821539" y="2279053"/>
            <a:chExt cx="2393604" cy="989462"/>
          </a:xfrm>
        </p:grpSpPr>
        <p:sp>
          <p:nvSpPr>
            <p:cNvPr id="3" name="Rectangle 2"/>
            <p:cNvSpPr/>
            <p:nvPr/>
          </p:nvSpPr>
          <p:spPr>
            <a:xfrm>
              <a:off x="821539" y="2279053"/>
              <a:ext cx="2393604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1" dirty="0" smtClean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tx2">
                      <a:lumMod val="75000"/>
                    </a:schemeClr>
                  </a:solidFill>
                </a:rPr>
                <a:t>AUTHOR’S NAME</a:t>
              </a:r>
              <a:endParaRPr lang="en-US" sz="2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endParaRPr>
            </a:p>
          </p:txBody>
        </p:sp>
        <p:cxnSp>
          <p:nvCxnSpPr>
            <p:cNvPr id="4" name="Straight Connector 3"/>
            <p:cNvCxnSpPr>
              <a:cxnSpLocks/>
            </p:cNvCxnSpPr>
            <p:nvPr/>
          </p:nvCxnSpPr>
          <p:spPr>
            <a:xfrm>
              <a:off x="2018341" y="2740718"/>
              <a:ext cx="0" cy="527797"/>
            </a:xfrm>
            <a:prstGeom prst="line">
              <a:avLst/>
            </a:prstGeom>
            <a:ln w="57150">
              <a:solidFill>
                <a:schemeClr val="tx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3287077" y="2020949"/>
            <a:ext cx="2899830" cy="1244592"/>
            <a:chOff x="3287077" y="2020949"/>
            <a:chExt cx="2899830" cy="1244592"/>
          </a:xfrm>
        </p:grpSpPr>
        <p:cxnSp>
          <p:nvCxnSpPr>
            <p:cNvPr id="5" name="Straight Connector 4"/>
            <p:cNvCxnSpPr>
              <a:cxnSpLocks/>
            </p:cNvCxnSpPr>
            <p:nvPr/>
          </p:nvCxnSpPr>
          <p:spPr>
            <a:xfrm flipH="1">
              <a:off x="4433888" y="2851946"/>
              <a:ext cx="66197" cy="413595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3287077" y="2020949"/>
              <a:ext cx="28998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n w="22225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PUBLICATION DATE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233460" y="2223368"/>
            <a:ext cx="2899830" cy="1042173"/>
            <a:chOff x="6233460" y="2223368"/>
            <a:chExt cx="2899830" cy="1042173"/>
          </a:xfrm>
        </p:grpSpPr>
        <p:cxnSp>
          <p:nvCxnSpPr>
            <p:cNvPr id="7" name="Straight Connector 6"/>
            <p:cNvCxnSpPr>
              <a:cxnSpLocks/>
            </p:cNvCxnSpPr>
            <p:nvPr/>
          </p:nvCxnSpPr>
          <p:spPr>
            <a:xfrm flipH="1">
              <a:off x="6606192" y="2808143"/>
              <a:ext cx="551925" cy="457398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6233460" y="2223368"/>
              <a:ext cx="2899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n w="12700" cmpd="sng">
                    <a:solidFill>
                      <a:schemeClr val="accent4"/>
                    </a:solidFill>
                    <a:prstDash val="solid"/>
                  </a:ln>
                  <a:solidFill>
                    <a:srgbClr val="7030A0"/>
                  </a:solidFill>
                </a:rPr>
                <a:t>ARTICLE TITLE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-117387" y="4331909"/>
            <a:ext cx="5021704" cy="1105945"/>
            <a:chOff x="2430958" y="4285321"/>
            <a:chExt cx="5021704" cy="1105945"/>
          </a:xfrm>
        </p:grpSpPr>
        <p:cxnSp>
          <p:nvCxnSpPr>
            <p:cNvPr id="9" name="Straight Connector 8"/>
            <p:cNvCxnSpPr>
              <a:cxnSpLocks/>
            </p:cNvCxnSpPr>
            <p:nvPr/>
          </p:nvCxnSpPr>
          <p:spPr>
            <a:xfrm flipH="1" flipV="1">
              <a:off x="4941810" y="4285321"/>
              <a:ext cx="1" cy="625410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430958" y="4929601"/>
              <a:ext cx="5021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n w="22225">
                    <a:solidFill>
                      <a:schemeClr val="accent5">
                        <a:lumMod val="75000"/>
                      </a:schemeClr>
                    </a:solidFill>
                    <a:prstDash val="solid"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PERIODICAL TITLE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791862" y="4274081"/>
            <a:ext cx="2899830" cy="1135355"/>
            <a:chOff x="6186907" y="4398902"/>
            <a:chExt cx="2899830" cy="1135355"/>
          </a:xfrm>
        </p:grpSpPr>
        <p:cxnSp>
          <p:nvCxnSpPr>
            <p:cNvPr id="11" name="Straight Connector 10"/>
            <p:cNvCxnSpPr>
              <a:cxnSpLocks/>
            </p:cNvCxnSpPr>
            <p:nvPr/>
          </p:nvCxnSpPr>
          <p:spPr>
            <a:xfrm flipH="1" flipV="1">
              <a:off x="6846804" y="4398902"/>
              <a:ext cx="311313" cy="511828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6186907" y="5072592"/>
              <a:ext cx="28998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n w="22225">
                    <a:solidFill>
                      <a:srgbClr val="FF0000"/>
                    </a:solidFill>
                    <a:prstDash val="solid"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VOLUME NUMBER</a:t>
              </a:r>
            </a:p>
          </p:txBody>
        </p:sp>
      </p:grpSp>
      <p:sp>
        <p:nvSpPr>
          <p:cNvPr id="15" name="Title 1"/>
          <p:cNvSpPr txBox="1">
            <a:spLocks/>
          </p:cNvSpPr>
          <p:nvPr/>
        </p:nvSpPr>
        <p:spPr>
          <a:xfrm>
            <a:off x="957185" y="695646"/>
            <a:ext cx="9404723" cy="81002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SAMPLE FORMAT : </a:t>
            </a:r>
            <a:r>
              <a:rPr lang="en-US" b="1" dirty="0" smtClean="0">
                <a:solidFill>
                  <a:schemeClr val="tx1"/>
                </a:solidFill>
              </a:rPr>
              <a:t>MAGAZINE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24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094535"/>
              </p:ext>
            </p:extLst>
          </p:nvPr>
        </p:nvGraphicFramePr>
        <p:xfrm>
          <a:off x="457198" y="266700"/>
          <a:ext cx="11258551" cy="6443472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2443222">
                  <a:extLst>
                    <a:ext uri="{9D8B030D-6E8A-4147-A177-3AD203B41FA5}">
                      <a16:colId xmlns="" xmlns:a16="http://schemas.microsoft.com/office/drawing/2014/main" val="312576366"/>
                    </a:ext>
                  </a:extLst>
                </a:gridCol>
                <a:gridCol w="3409381">
                  <a:extLst>
                    <a:ext uri="{9D8B030D-6E8A-4147-A177-3AD203B41FA5}">
                      <a16:colId xmlns="" xmlns:a16="http://schemas.microsoft.com/office/drawing/2014/main" val="2307302068"/>
                    </a:ext>
                  </a:extLst>
                </a:gridCol>
                <a:gridCol w="5405948">
                  <a:extLst>
                    <a:ext uri="{9D8B030D-6E8A-4147-A177-3AD203B41FA5}">
                      <a16:colId xmlns="" xmlns:a16="http://schemas.microsoft.com/office/drawing/2014/main" val="4161078148"/>
                    </a:ext>
                  </a:extLst>
                </a:gridCol>
              </a:tblGrid>
              <a:tr h="10286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Reference Materials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Format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Example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06183777"/>
                  </a:ext>
                </a:extLst>
              </a:tr>
              <a:tr h="541481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4. </a:t>
                      </a:r>
                      <a:r>
                        <a:rPr lang="en-US" sz="3200" dirty="0" smtClean="0">
                          <a:effectLst/>
                        </a:rPr>
                        <a:t>WEBSITE/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effectLst/>
                        </a:rPr>
                        <a:t>WEBPAGE</a:t>
                      </a:r>
                      <a:endParaRPr lang="en-US" sz="28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Author`s name. (Date of publication). Title of article. Title of Periodical, volume number, Retrieved month day, year, from full URL.</a:t>
                      </a:r>
                      <a:endParaRPr lang="en-US" sz="2800" dirty="0">
                        <a:effectLst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Devitt, T. (2001, August 2). Lightning injures four at music festival. The Why? Files. Retrieved January 23, 2002, from </a:t>
                      </a:r>
                      <a:r>
                        <a:rPr lang="en-US" sz="3200" u="sng" dirty="0">
                          <a:effectLst/>
                          <a:hlinkClick r:id="rId2"/>
                        </a:rPr>
                        <a:t>http://whyfiles</a:t>
                      </a:r>
                      <a:r>
                        <a:rPr lang="en-US" sz="3200" dirty="0">
                          <a:effectLst/>
                        </a:rPr>
                        <a:t>. org/137lightning/index.html </a:t>
                      </a:r>
                      <a:endParaRPr lang="en-US" sz="2800" dirty="0">
                        <a:effectLst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782845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49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206751" y="171451"/>
            <a:ext cx="11632882" cy="6101624"/>
          </a:xfrm>
          <a:prstGeom prst="rect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2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/>
          <p:cNvSpPr/>
          <p:nvPr/>
        </p:nvSpPr>
        <p:spPr>
          <a:xfrm>
            <a:off x="206750" y="2410065"/>
            <a:ext cx="11897290" cy="1791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Devitt, T. 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(2001, August 2). </a:t>
            </a:r>
            <a:r>
              <a:rPr lang="en-US" sz="3200" dirty="0">
                <a:solidFill>
                  <a:srgbClr val="7030A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Lightning injures four at music festival. </a:t>
            </a:r>
            <a:endParaRPr lang="en-US" sz="3200" dirty="0" smtClean="0">
              <a:solidFill>
                <a:srgbClr val="7030A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3200" dirty="0" smtClean="0">
                <a:solidFill>
                  <a:schemeClr val="accent5">
                    <a:lumMod val="50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Why? Files. </a:t>
            </a:r>
            <a:r>
              <a:rPr lang="en-US" sz="3200" dirty="0">
                <a:solidFill>
                  <a:srgbClr val="C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Retrieved January 23, 2002</a:t>
            </a:r>
            <a:r>
              <a:rPr lang="en-US" sz="32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, from </a:t>
            </a:r>
            <a:r>
              <a:rPr lang="en-US" sz="3200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http://whyfiles</a:t>
            </a:r>
            <a:r>
              <a:rPr lang="en-US" sz="32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200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org/137lightning/index.html </a:t>
            </a:r>
            <a:endParaRPr lang="en-US" sz="2800" dirty="0">
              <a:solidFill>
                <a:srgbClr val="0000FF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206750" y="367671"/>
            <a:ext cx="9891974" cy="81002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</a:rPr>
              <a:t>SAMPLE FORMAT : WEBSITE/WEBPAGE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21258" y="1498228"/>
            <a:ext cx="2393604" cy="1067626"/>
            <a:chOff x="421258" y="1498228"/>
            <a:chExt cx="2393604" cy="1067626"/>
          </a:xfrm>
        </p:grpSpPr>
        <p:cxnSp>
          <p:nvCxnSpPr>
            <p:cNvPr id="30" name="Straight Connector 29"/>
            <p:cNvCxnSpPr>
              <a:cxnSpLocks/>
            </p:cNvCxnSpPr>
            <p:nvPr/>
          </p:nvCxnSpPr>
          <p:spPr>
            <a:xfrm>
              <a:off x="1485878" y="2038057"/>
              <a:ext cx="0" cy="527797"/>
            </a:xfrm>
            <a:prstGeom prst="line">
              <a:avLst/>
            </a:prstGeom>
            <a:ln w="57150">
              <a:solidFill>
                <a:schemeClr val="tx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421258" y="1498228"/>
              <a:ext cx="2393604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1" dirty="0" smtClean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tx2">
                      <a:lumMod val="75000"/>
                    </a:schemeClr>
                  </a:solidFill>
                </a:rPr>
                <a:t>AUTHOR’S NAME</a:t>
              </a:r>
              <a:endParaRPr lang="en-US" sz="2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049115" y="1294478"/>
            <a:ext cx="2899830" cy="1203005"/>
            <a:chOff x="3049115" y="1294478"/>
            <a:chExt cx="2899830" cy="1203005"/>
          </a:xfrm>
        </p:grpSpPr>
        <p:cxnSp>
          <p:nvCxnSpPr>
            <p:cNvPr id="32" name="Straight Connector 31"/>
            <p:cNvCxnSpPr>
              <a:cxnSpLocks/>
            </p:cNvCxnSpPr>
            <p:nvPr/>
          </p:nvCxnSpPr>
          <p:spPr>
            <a:xfrm flipH="1">
              <a:off x="3730319" y="1802842"/>
              <a:ext cx="469749" cy="694641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3049115" y="1294478"/>
              <a:ext cx="28998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n w="22225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PUBLICATION DATE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462828" y="1287214"/>
            <a:ext cx="3593507" cy="1278656"/>
            <a:chOff x="6462828" y="1287214"/>
            <a:chExt cx="3593507" cy="1278656"/>
          </a:xfrm>
        </p:grpSpPr>
        <p:cxnSp>
          <p:nvCxnSpPr>
            <p:cNvPr id="35" name="Straight Connector 34"/>
            <p:cNvCxnSpPr>
              <a:cxnSpLocks/>
            </p:cNvCxnSpPr>
            <p:nvPr/>
          </p:nvCxnSpPr>
          <p:spPr>
            <a:xfrm>
              <a:off x="8259581" y="1922124"/>
              <a:ext cx="1" cy="643746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6462828" y="1287214"/>
              <a:ext cx="359350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n w="12700" cmpd="sng">
                    <a:solidFill>
                      <a:schemeClr val="accent4"/>
                    </a:solidFill>
                    <a:prstDash val="solid"/>
                  </a:ln>
                  <a:solidFill>
                    <a:srgbClr val="7030A0"/>
                  </a:solidFill>
                </a:rPr>
                <a:t> TITLE OF ARTICLE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-892792" y="3570004"/>
            <a:ext cx="5021704" cy="1893838"/>
            <a:chOff x="-892792" y="3570004"/>
            <a:chExt cx="5021704" cy="1893838"/>
          </a:xfrm>
        </p:grpSpPr>
        <p:cxnSp>
          <p:nvCxnSpPr>
            <p:cNvPr id="37" name="Straight Connector 36"/>
            <p:cNvCxnSpPr>
              <a:cxnSpLocks/>
            </p:cNvCxnSpPr>
            <p:nvPr/>
          </p:nvCxnSpPr>
          <p:spPr>
            <a:xfrm flipH="1" flipV="1">
              <a:off x="1063386" y="3570004"/>
              <a:ext cx="41514" cy="1406172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-892792" y="5002177"/>
              <a:ext cx="5021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n w="22225">
                    <a:solidFill>
                      <a:schemeClr val="accent5">
                        <a:lumMod val="75000"/>
                      </a:schemeClr>
                    </a:solidFill>
                    <a:prstDash val="solid"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PERIODICAL TITLE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157894" y="3478772"/>
            <a:ext cx="4789908" cy="1936635"/>
            <a:chOff x="6157894" y="3478772"/>
            <a:chExt cx="4789908" cy="1936635"/>
          </a:xfrm>
        </p:grpSpPr>
        <p:cxnSp>
          <p:nvCxnSpPr>
            <p:cNvPr id="40" name="Straight Connector 39"/>
            <p:cNvCxnSpPr>
              <a:cxnSpLocks/>
            </p:cNvCxnSpPr>
            <p:nvPr/>
          </p:nvCxnSpPr>
          <p:spPr>
            <a:xfrm flipH="1" flipV="1">
              <a:off x="6157894" y="3478772"/>
              <a:ext cx="2101687" cy="1115540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6783903" y="4584410"/>
              <a:ext cx="41638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/>
                  </a:solidFill>
                </a:rPr>
                <a:t>RETRIEVED MONTH, DAY, YEAR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744606" y="4117448"/>
            <a:ext cx="5021704" cy="1639411"/>
            <a:chOff x="2744606" y="4117448"/>
            <a:chExt cx="5021704" cy="1639411"/>
          </a:xfrm>
        </p:grpSpPr>
        <p:cxnSp>
          <p:nvCxnSpPr>
            <p:cNvPr id="56" name="Straight Connector 55"/>
            <p:cNvCxnSpPr>
              <a:cxnSpLocks/>
            </p:cNvCxnSpPr>
            <p:nvPr/>
          </p:nvCxnSpPr>
          <p:spPr>
            <a:xfrm flipH="1" flipV="1">
              <a:off x="5306950" y="4117448"/>
              <a:ext cx="9767" cy="858728"/>
            </a:xfrm>
            <a:prstGeom prst="line">
              <a:avLst/>
            </a:prstGeom>
            <a:ln w="571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2744606" y="5110528"/>
              <a:ext cx="50217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ln w="22225">
                    <a:solidFill>
                      <a:srgbClr val="0000FF"/>
                    </a:solidFill>
                    <a:prstDash val="solid"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URL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395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846" y="4177371"/>
            <a:ext cx="2514599" cy="204520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7575" y="25360"/>
            <a:ext cx="115663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TASK </a:t>
            </a:r>
            <a:r>
              <a:rPr lang="en-US" sz="2400" b="1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2: </a:t>
            </a: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MATCHING TYPE</a:t>
            </a:r>
          </a:p>
          <a:p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	Directions: Match the different reference materials in Column A to their correct formats in Column B. Write the letter of the correct answer before each number. </a:t>
            </a:r>
          </a:p>
        </p:txBody>
      </p:sp>
      <p:sp>
        <p:nvSpPr>
          <p:cNvPr id="4" name="Rectangle 3"/>
          <p:cNvSpPr/>
          <p:nvPr/>
        </p:nvSpPr>
        <p:spPr>
          <a:xfrm>
            <a:off x="158033" y="1324603"/>
            <a:ext cx="4718767" cy="43147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COLUMN A</a:t>
            </a:r>
          </a:p>
          <a:p>
            <a:pPr>
              <a:lnSpc>
                <a:spcPct val="115000"/>
              </a:lnSpc>
            </a:pP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400" b="1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_____</a:t>
            </a: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2400" b="1" dirty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Encyclopedia  </a:t>
            </a:r>
            <a:endParaRPr lang="en-US" sz="2400" b="1" dirty="0" smtClean="0">
              <a:solidFill>
                <a:srgbClr val="0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_____ </a:t>
            </a:r>
            <a:r>
              <a:rPr lang="en-US" sz="2400" b="1" dirty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2. Website or Webpage</a:t>
            </a: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400" b="1" dirty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_____ </a:t>
            </a:r>
            <a:r>
              <a:rPr lang="en-US" sz="2400" b="1" dirty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3. Magazine  </a:t>
            </a:r>
            <a:endParaRPr lang="en-US" sz="2400" b="1" dirty="0" smtClean="0">
              <a:solidFill>
                <a:srgbClr val="0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_____ </a:t>
            </a:r>
            <a:r>
              <a:rPr lang="en-US" sz="2400" b="1" dirty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b="1" dirty="0" smtClean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endParaRPr lang="en-US" sz="2400" b="1" dirty="0">
              <a:solidFill>
                <a:srgbClr val="0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9095" y="1336313"/>
            <a:ext cx="793955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COLUMN </a:t>
            </a:r>
            <a:r>
              <a:rPr lang="en-US" sz="2400" b="1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</a:p>
          <a:p>
            <a:pPr algn="ctr"/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AutoNum type="alphaLcPeriod"/>
            </a:pPr>
            <a:r>
              <a:rPr lang="en-US" sz="2400" b="1" dirty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Author`s name. (Date of publication). Title of article. Title of Periodical, volume number, Retrieved month day, year, from full URL.</a:t>
            </a: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6075" indent="-346075"/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</a:rPr>
              <a:t>b. </a:t>
            </a:r>
            <a:r>
              <a:rPr lang="en-US" sz="2400" b="1" dirty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</a:rPr>
              <a:t>Author`s last name, First Initial. (Date).Title of Article. Title of  </a:t>
            </a: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Encyclopedia (Volume, pages). City of publication: Publishing company.</a:t>
            </a:r>
          </a:p>
          <a:p>
            <a:pPr marL="346075" indent="-346075"/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c. Author`s last name,  First Initial. (Publication date). Book title. City of publication: Publishing company.</a:t>
            </a:r>
          </a:p>
          <a:p>
            <a:pPr marL="346075" indent="-346075"/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d. Author`s last name, first initial. (Publication date). Article title. Periodical title, volume number</a:t>
            </a:r>
          </a:p>
          <a:p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296" y="5708967"/>
            <a:ext cx="374332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1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7640"/>
            <a:ext cx="1200912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TASK </a:t>
            </a:r>
            <a:r>
              <a:rPr lang="en-US" sz="2800" b="1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3: </a:t>
            </a:r>
            <a:r>
              <a:rPr lang="en-US" sz="28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BIBLIOGRAPHY FORMAT</a:t>
            </a: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/>
            <a:r>
              <a:rPr lang="en-US" sz="28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Directions: Arrange the following information based on the given reference materials </a:t>
            </a:r>
            <a:r>
              <a:rPr lang="en-US" sz="2800" i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Use correct punctuation marks. Write your answer on the opposite box provided.</a:t>
            </a:r>
            <a:endParaRPr lang="en-US" sz="2400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050814"/>
              </p:ext>
            </p:extLst>
          </p:nvPr>
        </p:nvGraphicFramePr>
        <p:xfrm>
          <a:off x="815817" y="1983522"/>
          <a:ext cx="10743246" cy="4757928"/>
        </p:xfrm>
        <a:graphic>
          <a:graphicData uri="http://schemas.openxmlformats.org/drawingml/2006/table">
            <a:tbl>
              <a:tblPr firstRow="1" firstCol="1" bandRow="1">
                <a:tableStyleId>{08FB837D-C827-4EFA-A057-4D05807E0F7C}</a:tableStyleId>
              </a:tblPr>
              <a:tblGrid>
                <a:gridCol w="5337333">
                  <a:extLst>
                    <a:ext uri="{9D8B030D-6E8A-4147-A177-3AD203B41FA5}">
                      <a16:colId xmlns="" xmlns:a16="http://schemas.microsoft.com/office/drawing/2014/main" val="4087506314"/>
                    </a:ext>
                  </a:extLst>
                </a:gridCol>
                <a:gridCol w="5405913">
                  <a:extLst>
                    <a:ext uri="{9D8B030D-6E8A-4147-A177-3AD203B41FA5}">
                      <a16:colId xmlns="" xmlns:a16="http://schemas.microsoft.com/office/drawing/2014/main" val="3969735349"/>
                    </a:ext>
                  </a:extLst>
                </a:gridCol>
              </a:tblGrid>
              <a:tr h="34399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BOOKS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37287004"/>
                  </a:ext>
                </a:extLst>
              </a:tr>
              <a:tr h="151194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1. English for Daily Life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   Santiago, Ryan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  United States of America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  1993 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Random Publishing House 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 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64228162"/>
                  </a:ext>
                </a:extLst>
              </a:tr>
              <a:tr h="181646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2. IBON Incorporation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   2007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  </a:t>
                      </a:r>
                      <a:r>
                        <a:rPr lang="en-US" sz="2800" b="0" dirty="0" err="1">
                          <a:effectLst/>
                        </a:rPr>
                        <a:t>Degamo</a:t>
                      </a:r>
                      <a:r>
                        <a:rPr lang="en-US" sz="2800" b="0" dirty="0">
                          <a:effectLst/>
                        </a:rPr>
                        <a:t>, Christian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   Chemistry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   New York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 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59856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27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215587"/>
              </p:ext>
            </p:extLst>
          </p:nvPr>
        </p:nvGraphicFramePr>
        <p:xfrm>
          <a:off x="329334" y="129463"/>
          <a:ext cx="11195916" cy="6059424"/>
        </p:xfrm>
        <a:graphic>
          <a:graphicData uri="http://schemas.openxmlformats.org/drawingml/2006/table">
            <a:tbl>
              <a:tblPr firstRow="1" firstCol="1" bandRow="1">
                <a:tableStyleId>{08FB837D-C827-4EFA-A057-4D05807E0F7C}</a:tableStyleId>
              </a:tblPr>
              <a:tblGrid>
                <a:gridCol w="5785443">
                  <a:extLst>
                    <a:ext uri="{9D8B030D-6E8A-4147-A177-3AD203B41FA5}">
                      <a16:colId xmlns="" xmlns:a16="http://schemas.microsoft.com/office/drawing/2014/main" val="4087506314"/>
                    </a:ext>
                  </a:extLst>
                </a:gridCol>
                <a:gridCol w="5410473">
                  <a:extLst>
                    <a:ext uri="{9D8B030D-6E8A-4147-A177-3AD203B41FA5}">
                      <a16:colId xmlns="" xmlns:a16="http://schemas.microsoft.com/office/drawing/2014/main" val="3969735349"/>
                    </a:ext>
                  </a:extLst>
                </a:gridCol>
              </a:tblGrid>
              <a:tr h="407214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ENCYCLOPEDIA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37287004"/>
                  </a:ext>
                </a:extLst>
              </a:tr>
              <a:tr h="19928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Relativity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Bergmann, P. G.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1993</a:t>
                      </a:r>
                    </a:p>
                    <a:p>
                      <a:pPr marL="268288" marR="0" indent="-268288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In The New Encyclopedia Britannica </a:t>
                      </a:r>
                    </a:p>
                    <a:p>
                      <a:pPr marL="268288" marR="0" indent="-268288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(Vol. 26, pp. 501-508)</a:t>
                      </a:r>
                    </a:p>
                    <a:p>
                      <a:pPr marL="268288" marR="0" indent="-268288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Chicago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64228162"/>
                  </a:ext>
                </a:extLst>
              </a:tr>
              <a:tr h="2235524">
                <a:tc>
                  <a:txBody>
                    <a:bodyPr/>
                    <a:lstStyle/>
                    <a:p>
                      <a:pPr marL="444500" indent="-444500"/>
                      <a:r>
                        <a:rPr lang="en-US" sz="28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Falcon and Falconry </a:t>
                      </a:r>
                      <a:r>
                        <a:rPr lang="en-US" sz="2800" b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Pettingill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O.</a:t>
                      </a:r>
                    </a:p>
                    <a:p>
                      <a:pPr marL="444500" indent="-444500"/>
                      <a:r>
                        <a:rPr lang="en-US" sz="2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1980 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44500" indent="-444500"/>
                      <a:r>
                        <a:rPr lang="en-US" sz="28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2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World 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 Encyclopedia. </a:t>
                      </a:r>
                    </a:p>
                    <a:p>
                      <a:pPr marL="444500" indent="-444500"/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sz="2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(pp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150-155</a:t>
                      </a:r>
                      <a:r>
                        <a:rPr lang="en-US" sz="2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r>
                        <a:rPr lang="en-US" sz="2800" b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444500" indent="-444500"/>
                      <a:r>
                        <a:rPr lang="en-US" sz="2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Chicago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5985674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381750" y="1428750"/>
            <a:ext cx="499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88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657388"/>
              </p:ext>
            </p:extLst>
          </p:nvPr>
        </p:nvGraphicFramePr>
        <p:xfrm>
          <a:off x="206795" y="201662"/>
          <a:ext cx="11661355" cy="6379464"/>
        </p:xfrm>
        <a:graphic>
          <a:graphicData uri="http://schemas.openxmlformats.org/drawingml/2006/table">
            <a:tbl>
              <a:tblPr firstRow="1" firstCol="1" bandRow="1">
                <a:tableStyleId>{08FB837D-C827-4EFA-A057-4D05807E0F7C}</a:tableStyleId>
              </a:tblPr>
              <a:tblGrid>
                <a:gridCol w="7295736">
                  <a:extLst>
                    <a:ext uri="{9D8B030D-6E8A-4147-A177-3AD203B41FA5}">
                      <a16:colId xmlns="" xmlns:a16="http://schemas.microsoft.com/office/drawing/2014/main" val="4087506314"/>
                    </a:ext>
                  </a:extLst>
                </a:gridCol>
                <a:gridCol w="4365619">
                  <a:extLst>
                    <a:ext uri="{9D8B030D-6E8A-4147-A177-3AD203B41FA5}">
                      <a16:colId xmlns="" xmlns:a16="http://schemas.microsoft.com/office/drawing/2014/main" val="3969735349"/>
                    </a:ext>
                  </a:extLst>
                </a:gridCol>
              </a:tblGrid>
              <a:tr h="33040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WEBSITE/WEBPAGE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37287004"/>
                  </a:ext>
                </a:extLst>
              </a:tr>
              <a:tr h="28543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 </a:t>
                      </a: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Devitt, T.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Lightning injures four at music festival.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The Why? Files.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(2001, August 2).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Retrieved January 23, 2002,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http://whyfiles.org/137lightning/index.html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64228162"/>
                  </a:ext>
                </a:extLst>
              </a:tr>
              <a:tr h="24937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 </a:t>
                      </a: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Why? Files.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Lazaro, Stephen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(2001, August 2).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Education is the key to success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Retrieved August 15, 2002,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http://whyfiles.org/137education/index.html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</a:rPr>
                        <a:t> 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59856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130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700" y="0"/>
            <a:ext cx="7130127" cy="694730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98912" y="3154457"/>
            <a:ext cx="7611035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PH" sz="8800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ANSWER KEY</a:t>
            </a:r>
            <a:endParaRPr lang="en-PH" sz="8800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838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430" y="3920888"/>
            <a:ext cx="2514599" cy="204520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47575" y="25360"/>
            <a:ext cx="115663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TASK </a:t>
            </a:r>
            <a:r>
              <a:rPr lang="en-US" sz="2400" b="1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2: </a:t>
            </a: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MATCHING TYPE</a:t>
            </a:r>
          </a:p>
          <a:p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	Directions: Match the different reference materials in Column A to their correct formats in Column B. Write the letter of the correct answer before each number.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033" y="1324603"/>
            <a:ext cx="4718767" cy="43147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COLUMN A</a:t>
            </a:r>
          </a:p>
          <a:p>
            <a:pPr>
              <a:lnSpc>
                <a:spcPct val="115000"/>
              </a:lnSpc>
            </a:pP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400" b="1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_____</a:t>
            </a: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2400" b="1" dirty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Encyclopedia  </a:t>
            </a:r>
            <a:endParaRPr lang="en-US" sz="2400" b="1" dirty="0" smtClean="0">
              <a:solidFill>
                <a:srgbClr val="0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_____ </a:t>
            </a:r>
            <a:r>
              <a:rPr lang="en-US" sz="2400" b="1" dirty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2. Website or Webpage</a:t>
            </a: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400" b="1" dirty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_____ </a:t>
            </a:r>
            <a:r>
              <a:rPr lang="en-US" sz="2400" b="1" dirty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3. Magazine  </a:t>
            </a:r>
            <a:endParaRPr lang="en-US" sz="2400" b="1" dirty="0" smtClean="0">
              <a:solidFill>
                <a:srgbClr val="0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_____ </a:t>
            </a:r>
            <a:r>
              <a:rPr lang="en-US" sz="2400" b="1" dirty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b="1" dirty="0" smtClean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endParaRPr lang="en-US" sz="2400" b="1" dirty="0">
              <a:solidFill>
                <a:srgbClr val="0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9095" y="1336313"/>
            <a:ext cx="793955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COLUMN </a:t>
            </a:r>
            <a:r>
              <a:rPr lang="en-US" sz="2400" b="1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</a:p>
          <a:p>
            <a:pPr algn="ctr"/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AutoNum type="alphaLcPeriod"/>
            </a:pPr>
            <a:r>
              <a:rPr lang="en-US" sz="2400" b="1" dirty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Author`s name. (Date of publication). Title of article. Title of Periodical, volume number, Retrieved month day, year, from full URL.</a:t>
            </a: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6075" indent="-346075"/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</a:rPr>
              <a:t>b. </a:t>
            </a:r>
            <a:r>
              <a:rPr lang="en-US" sz="2400" b="1" dirty="0">
                <a:solidFill>
                  <a:srgbClr val="0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Times New Roman" panose="02020603050405020304" pitchFamily="18" charset="0"/>
              </a:rPr>
              <a:t>Author`s last name, First Initial. (Date).Title of Article. Title of  </a:t>
            </a: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Encyclopedia (Volume, pages). City of publication: Publishing company.</a:t>
            </a:r>
          </a:p>
          <a:p>
            <a:pPr marL="346075" indent="-346075"/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c. Author`s last name,  First Initial. (Publication date). Book title. City of publication: Publishing company.</a:t>
            </a:r>
          </a:p>
          <a:p>
            <a:pPr marL="346075" indent="-346075"/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d. Author`s last name, first initial. (Publication date). Article title. Periodical title, volume number</a:t>
            </a:r>
          </a:p>
          <a:p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296" y="5708967"/>
            <a:ext cx="3743325" cy="8286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0054" y="1778374"/>
            <a:ext cx="5565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FF"/>
                </a:solidFill>
                <a:effectLst/>
              </a:rPr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405282" y="2616409"/>
            <a:ext cx="5261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FF"/>
                </a:solidFill>
                <a:effectLst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838" y="3431919"/>
            <a:ext cx="5565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FF"/>
                </a:solidFill>
                <a:effectLst/>
              </a:rPr>
              <a:t>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4014" y="4247429"/>
            <a:ext cx="4748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FF"/>
                </a:solidFill>
                <a:effectLst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4799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6" grpId="0"/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7640"/>
            <a:ext cx="1200912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TASK </a:t>
            </a:r>
            <a:r>
              <a:rPr lang="en-US" sz="2800" b="1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3: </a:t>
            </a:r>
            <a:r>
              <a:rPr lang="en-US" sz="28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BIBLIOGRAPHY FORMAT</a:t>
            </a:r>
            <a:endParaRPr lang="en-US" sz="24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/>
            <a:r>
              <a:rPr lang="en-US" sz="28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Directions: Arrange the following information based on the given reference materials </a:t>
            </a:r>
            <a:r>
              <a:rPr lang="en-US" sz="2800" i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Use correct punctuation marks. Write your answer on the opposite box provided.</a:t>
            </a:r>
            <a:endParaRPr lang="en-US" sz="2400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050814"/>
              </p:ext>
            </p:extLst>
          </p:nvPr>
        </p:nvGraphicFramePr>
        <p:xfrm>
          <a:off x="815817" y="1983522"/>
          <a:ext cx="10743246" cy="4757928"/>
        </p:xfrm>
        <a:graphic>
          <a:graphicData uri="http://schemas.openxmlformats.org/drawingml/2006/table">
            <a:tbl>
              <a:tblPr firstRow="1" firstCol="1" bandRow="1">
                <a:tableStyleId>{08FB837D-C827-4EFA-A057-4D05807E0F7C}</a:tableStyleId>
              </a:tblPr>
              <a:tblGrid>
                <a:gridCol w="5337333">
                  <a:extLst>
                    <a:ext uri="{9D8B030D-6E8A-4147-A177-3AD203B41FA5}">
                      <a16:colId xmlns="" xmlns:a16="http://schemas.microsoft.com/office/drawing/2014/main" val="4087506314"/>
                    </a:ext>
                  </a:extLst>
                </a:gridCol>
                <a:gridCol w="5405913">
                  <a:extLst>
                    <a:ext uri="{9D8B030D-6E8A-4147-A177-3AD203B41FA5}">
                      <a16:colId xmlns="" xmlns:a16="http://schemas.microsoft.com/office/drawing/2014/main" val="3969735349"/>
                    </a:ext>
                  </a:extLst>
                </a:gridCol>
              </a:tblGrid>
              <a:tr h="34399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BOOKS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37287004"/>
                  </a:ext>
                </a:extLst>
              </a:tr>
              <a:tr h="151194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1. English for Daily Life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   Santiago, Ryan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  United States of America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  1993 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Random Publishing House 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 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64228162"/>
                  </a:ext>
                </a:extLst>
              </a:tr>
              <a:tr h="181646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2. IBON Incorporation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   2007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  </a:t>
                      </a:r>
                      <a:r>
                        <a:rPr lang="en-US" sz="2800" b="0" dirty="0" err="1">
                          <a:effectLst/>
                        </a:rPr>
                        <a:t>Degamo</a:t>
                      </a:r>
                      <a:r>
                        <a:rPr lang="en-US" sz="2800" b="0" dirty="0">
                          <a:effectLst/>
                        </a:rPr>
                        <a:t>, Christian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   Chemistry</a:t>
                      </a:r>
                      <a:endParaRPr lang="en-US" sz="2400" b="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   New York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 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5985674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53548" y="2673693"/>
            <a:ext cx="50812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Santiago, R. (1993). English for Daily Life. United States of America: Random Publishing House.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3548" y="5073818"/>
            <a:ext cx="48335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Degamo</a:t>
            </a:r>
            <a:r>
              <a:rPr lang="en-US" sz="2800" dirty="0"/>
              <a:t>, C. (2007). Chemistry. New York: IBON Incorporation. </a:t>
            </a:r>
          </a:p>
        </p:txBody>
      </p:sp>
    </p:spTree>
    <p:extLst>
      <p:ext uri="{BB962C8B-B14F-4D97-AF65-F5344CB8AC3E}">
        <p14:creationId xmlns:p14="http://schemas.microsoft.com/office/powerpoint/2010/main" val="370238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448739"/>
              </p:ext>
            </p:extLst>
          </p:nvPr>
        </p:nvGraphicFramePr>
        <p:xfrm>
          <a:off x="329334" y="129463"/>
          <a:ext cx="11195916" cy="6059424"/>
        </p:xfrm>
        <a:graphic>
          <a:graphicData uri="http://schemas.openxmlformats.org/drawingml/2006/table">
            <a:tbl>
              <a:tblPr firstRow="1" firstCol="1" bandRow="1">
                <a:tableStyleId>{08FB837D-C827-4EFA-A057-4D05807E0F7C}</a:tableStyleId>
              </a:tblPr>
              <a:tblGrid>
                <a:gridCol w="5785443">
                  <a:extLst>
                    <a:ext uri="{9D8B030D-6E8A-4147-A177-3AD203B41FA5}">
                      <a16:colId xmlns="" xmlns:a16="http://schemas.microsoft.com/office/drawing/2014/main" val="4087506314"/>
                    </a:ext>
                  </a:extLst>
                </a:gridCol>
                <a:gridCol w="5410473">
                  <a:extLst>
                    <a:ext uri="{9D8B030D-6E8A-4147-A177-3AD203B41FA5}">
                      <a16:colId xmlns="" xmlns:a16="http://schemas.microsoft.com/office/drawing/2014/main" val="3969735349"/>
                    </a:ext>
                  </a:extLst>
                </a:gridCol>
              </a:tblGrid>
              <a:tr h="407214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ENCYCLOPEDIA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37287004"/>
                  </a:ext>
                </a:extLst>
              </a:tr>
              <a:tr h="19928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Relativity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Bergmann, P. G.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1993</a:t>
                      </a:r>
                    </a:p>
                    <a:p>
                      <a:pPr marL="268288" marR="0" indent="-268288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In The New Encyclopedia Britannica </a:t>
                      </a:r>
                    </a:p>
                    <a:p>
                      <a:pPr marL="268288" marR="0" indent="-268288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(Vol. 26, pp. 501-508)</a:t>
                      </a:r>
                    </a:p>
                    <a:p>
                      <a:pPr marL="268288" marR="0" indent="-268288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Chicago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64228162"/>
                  </a:ext>
                </a:extLst>
              </a:tr>
              <a:tr h="2235524">
                <a:tc>
                  <a:txBody>
                    <a:bodyPr/>
                    <a:lstStyle/>
                    <a:p>
                      <a:pPr marL="444500" indent="-444500"/>
                      <a:r>
                        <a:rPr lang="en-US" sz="28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Falcon and Falconry </a:t>
                      </a:r>
                      <a:r>
                        <a:rPr lang="en-US" sz="2800" b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Pettingill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O.</a:t>
                      </a:r>
                    </a:p>
                    <a:p>
                      <a:pPr marL="444500" indent="-444500"/>
                      <a:r>
                        <a:rPr lang="en-US" sz="2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1980 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44500" indent="-444500"/>
                      <a:r>
                        <a:rPr lang="en-US" sz="28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2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World 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 Encyclopedia. </a:t>
                      </a:r>
                    </a:p>
                    <a:p>
                      <a:pPr marL="444500" indent="-444500"/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sz="2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(pp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150-155</a:t>
                      </a:r>
                      <a:r>
                        <a:rPr lang="en-US" sz="2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r>
                        <a:rPr lang="en-US" sz="2800" b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444500" indent="-444500"/>
                      <a:r>
                        <a:rPr lang="en-US" sz="2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Chicago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5985674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381750" y="1428750"/>
            <a:ext cx="499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610349" y="3889474"/>
            <a:ext cx="44120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Pettingill</a:t>
            </a:r>
            <a:r>
              <a:rPr lang="en-US" sz="2800" dirty="0" smtClean="0"/>
              <a:t>, O. (1980). Falcon and Falconry. World Book Encyclopedia (pp.150-155). Chicago. 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6610349" y="796320"/>
            <a:ext cx="44005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Bergmann, P. (1993).Relativity. In the New Encyclopedia Britannica (Vol.26,pp.501-508). Chicago.</a:t>
            </a:r>
          </a:p>
        </p:txBody>
      </p:sp>
    </p:spTree>
    <p:extLst>
      <p:ext uri="{BB962C8B-B14F-4D97-AF65-F5344CB8AC3E}">
        <p14:creationId xmlns:p14="http://schemas.microsoft.com/office/powerpoint/2010/main" val="127882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607791"/>
              </p:ext>
            </p:extLst>
          </p:nvPr>
        </p:nvGraphicFramePr>
        <p:xfrm>
          <a:off x="206795" y="201662"/>
          <a:ext cx="11661355" cy="6379464"/>
        </p:xfrm>
        <a:graphic>
          <a:graphicData uri="http://schemas.openxmlformats.org/drawingml/2006/table">
            <a:tbl>
              <a:tblPr firstRow="1" firstCol="1" bandRow="1">
                <a:tableStyleId>{08FB837D-C827-4EFA-A057-4D05807E0F7C}</a:tableStyleId>
              </a:tblPr>
              <a:tblGrid>
                <a:gridCol w="6689305">
                  <a:extLst>
                    <a:ext uri="{9D8B030D-6E8A-4147-A177-3AD203B41FA5}">
                      <a16:colId xmlns="" xmlns:a16="http://schemas.microsoft.com/office/drawing/2014/main" val="4087506314"/>
                    </a:ext>
                  </a:extLst>
                </a:gridCol>
                <a:gridCol w="4972050">
                  <a:extLst>
                    <a:ext uri="{9D8B030D-6E8A-4147-A177-3AD203B41FA5}">
                      <a16:colId xmlns="" xmlns:a16="http://schemas.microsoft.com/office/drawing/2014/main" val="3969735349"/>
                    </a:ext>
                  </a:extLst>
                </a:gridCol>
              </a:tblGrid>
              <a:tr h="33040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WEBSITE/WEBPAGE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37287004"/>
                  </a:ext>
                </a:extLst>
              </a:tr>
              <a:tr h="28543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 </a:t>
                      </a: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Devitt, T.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Lightning injures four at music festival.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The Why? Files.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(2001, August 2).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Retrieved January 23, 2002,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http://whyfiles.org/137lightning/index.html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64228162"/>
                  </a:ext>
                </a:extLst>
              </a:tr>
              <a:tr h="24937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 </a:t>
                      </a: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Why? Files.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Lazaro, Stephen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(2001, August 2).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Education is the key to success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Retrieved August 15, 2002,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http://whyfiles.org/137education/index.html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</a:rPr>
                        <a:t> 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5985674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258051" y="772250"/>
            <a:ext cx="4343400" cy="264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400" dirty="0" smtClean="0"/>
              <a:t>Devitt, T. (2001, August 2). </a:t>
            </a: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Lightning injures four at music festival.  The Why? Files. Retrieved January 23, 2002, </a:t>
            </a:r>
          </a:p>
          <a:p>
            <a:pPr>
              <a:lnSpc>
                <a:spcPct val="115000"/>
              </a:lnSpc>
            </a:pP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http://whyfiles.org/137lightning/index.html</a:t>
            </a: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58051" y="3568888"/>
            <a:ext cx="4114799" cy="301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400" dirty="0"/>
              <a:t>Lazaro, S. (2001, August 2).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Education is the key to success. The Why? Files. </a:t>
            </a:r>
          </a:p>
          <a:p>
            <a:pPr>
              <a:lnSpc>
                <a:spcPct val="115000"/>
              </a:lnSpc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  Retrieved January </a:t>
            </a: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23,2002,http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://whyfiles.org/137lightning/index.html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9398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352" y="4159490"/>
            <a:ext cx="2514599" cy="2045207"/>
          </a:xfrm>
          <a:prstGeom prst="rect">
            <a:avLst/>
          </a:prstGeom>
        </p:spPr>
      </p:pic>
      <p:sp>
        <p:nvSpPr>
          <p:cNvPr id="2" name="Content Placeholder 2"/>
          <p:cNvSpPr txBox="1">
            <a:spLocks/>
          </p:cNvSpPr>
          <p:nvPr/>
        </p:nvSpPr>
        <p:spPr>
          <a:xfrm>
            <a:off x="459874" y="838200"/>
            <a:ext cx="11503526" cy="50673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 smtClean="0"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TASK 4: LIBRARY WALK</a:t>
            </a:r>
          </a:p>
          <a:p>
            <a:pPr>
              <a:buFont typeface="Wingdings" pitchFamily="2" charset="2"/>
              <a:buChar char="ü"/>
            </a:pPr>
            <a:r>
              <a:rPr lang="en-US" sz="4400" b="1" dirty="0"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	</a:t>
            </a:r>
            <a:r>
              <a:rPr lang="en-US" sz="4400" dirty="0" smtClean="0"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The students will visit the school library and they will choose at least five (5) reference materials.</a:t>
            </a:r>
          </a:p>
          <a:p>
            <a:pPr>
              <a:buFont typeface="Wingdings" pitchFamily="2" charset="2"/>
              <a:buChar char="ü"/>
            </a:pPr>
            <a:r>
              <a:rPr lang="en-US" sz="4400" dirty="0" smtClean="0"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Apply the appropriate format for each reference material. </a:t>
            </a:r>
            <a:endParaRPr lang="en-US" sz="4400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554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2311344"/>
            <a:ext cx="4686300" cy="381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1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</TotalTime>
  <Words>1436</Words>
  <Application>Microsoft Office PowerPoint</Application>
  <PresentationFormat>Widescreen</PresentationFormat>
  <Paragraphs>255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Algerian</vt:lpstr>
      <vt:lpstr>Arial</vt:lpstr>
      <vt:lpstr>Calibri</vt:lpstr>
      <vt:lpstr>Calibri Light</vt:lpstr>
      <vt:lpstr>Times New Roman</vt:lpstr>
      <vt:lpstr>Wingdings</vt:lpstr>
      <vt:lpstr>Wingdings 3</vt:lpstr>
      <vt:lpstr>Office Theme</vt:lpstr>
      <vt:lpstr>BIBLIOGRAPHY</vt:lpstr>
      <vt:lpstr>PowerPoint Presentation</vt:lpstr>
      <vt:lpstr>PowerPoint Presentation</vt:lpstr>
      <vt:lpstr>PowerPoint Presentation</vt:lpstr>
      <vt:lpstr>PowerPoint Presentation</vt:lpstr>
      <vt:lpstr>Bibliography includes :</vt:lpstr>
      <vt:lpstr>FORMATS FOR DIFFERENT REFERENCE MATERIALS</vt:lpstr>
      <vt:lpstr>SAMPLE FORMAT :  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BIBLIOGRAPHY</dc:title>
  <dc:creator>Aileen Rabasto</dc:creator>
  <cp:lastModifiedBy>deped</cp:lastModifiedBy>
  <cp:revision>66</cp:revision>
  <dcterms:created xsi:type="dcterms:W3CDTF">2017-02-21T00:53:02Z</dcterms:created>
  <dcterms:modified xsi:type="dcterms:W3CDTF">2017-06-28T12:49:11Z</dcterms:modified>
</cp:coreProperties>
</file>